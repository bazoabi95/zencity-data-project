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E7AC29-4C70-486F-B4B8-AB7EE2EC334C}">
  <a:tblStyle styleId="{11E7AC29-4C70-486F-B4B8-AB7EE2EC334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219CF45-A768-41B6-9FCF-DA1236091B1B}"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374253B-E77B-45DE-8CC3-3D940C41A839}" styleName="Table_2">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6F2033D-D787-45D3-A69D-1552C56D71A4}" styleName="Table_3">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2d441d878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2d441d878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r" rtl="1">
              <a:spcBef>
                <a:spcPts val="0"/>
              </a:spcBef>
              <a:spcAft>
                <a:spcPts val="0"/>
              </a:spcAft>
              <a:buClr>
                <a:schemeClr val="dk1"/>
              </a:buClr>
              <a:buSzPts val="1100"/>
              <a:buFont typeface="Arial"/>
              <a:buNone/>
            </a:pPr>
            <a:r>
              <a:rPr lang="en">
                <a:solidFill>
                  <a:schemeClr val="dk1"/>
                </a:solidFill>
              </a:rPr>
              <a:t>קיבלנו דאטה של השכרות אופניים בQ1 של שנת 2022. המטרה שלנו היא למקסם את מספר השכרות האופניים בQ2. נציג לכם את הממצאים העיקריים ואת ההמלצות העסקיות שלנו.</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2d36c595c8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2d36c595c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r" rtl="1">
              <a:spcBef>
                <a:spcPts val="0"/>
              </a:spcBef>
              <a:spcAft>
                <a:spcPts val="0"/>
              </a:spcAft>
              <a:buNone/>
            </a:pPr>
            <a:r>
              <a:rPr lang="en"/>
              <a:t>התחלנו בבדיקה של כמות ההשכרות לפי זמן.</a:t>
            </a:r>
            <a:endParaRPr/>
          </a:p>
          <a:p>
            <a:pPr marL="0" lvl="0" indent="0" algn="r" rtl="1">
              <a:spcBef>
                <a:spcPts val="0"/>
              </a:spcBef>
              <a:spcAft>
                <a:spcPts val="0"/>
              </a:spcAft>
              <a:buNone/>
            </a:pPr>
            <a:r>
              <a:rPr lang="en"/>
              <a:t>בדקנו מתי משכירים יותר אופניים באמצעות שני ניתוחים: 1. הימים העמוסים במהלך השבוע.  2. השעות העמוסות במהלך יום אחד.</a:t>
            </a:r>
            <a:endParaRPr/>
          </a:p>
          <a:p>
            <a:pPr marL="0" lvl="0" indent="0" algn="r" rtl="1">
              <a:spcBef>
                <a:spcPts val="0"/>
              </a:spcBef>
              <a:spcAft>
                <a:spcPts val="0"/>
              </a:spcAft>
              <a:buNone/>
            </a:pPr>
            <a:r>
              <a:rPr lang="en"/>
              <a:t>מצאנו הבדל בין הימים באמצע שבוע לימים בסוף השבוע.   בסוף השבוע בימים שבת וראשון יש ירידה בכמות ההשכרות בהשוואה לאמצע השבוע.</a:t>
            </a:r>
            <a:endParaRPr/>
          </a:p>
          <a:p>
            <a:pPr marL="0" lvl="0" indent="0" algn="r" rtl="1">
              <a:spcBef>
                <a:spcPts val="0"/>
              </a:spcBef>
              <a:spcAft>
                <a:spcPts val="0"/>
              </a:spcAft>
              <a:buNone/>
            </a:pPr>
            <a:r>
              <a:rPr lang="en"/>
              <a:t>במהלך היום אפשר לראות הבדלים משמעותיים בין שעות הלילה לבין שעות אחר הצהריים שם כמות ההשכרות הכי גבוהה. </a:t>
            </a:r>
            <a:r>
              <a:rPr lang="en">
                <a:solidFill>
                  <a:schemeClr val="dk1"/>
                </a:solidFill>
              </a:rPr>
              <a:t>יש כמה פיקים בכמות ההשכרות למשל </a:t>
            </a:r>
            <a:r>
              <a:rPr lang="en"/>
              <a:t>בשעות הבוקר בין 8 ל 10  וגם בין 11 ל13 ובין 14 ל 15.</a:t>
            </a:r>
            <a:endParaRPr/>
          </a:p>
          <a:p>
            <a:pPr marL="0" lvl="0" indent="0" algn="r" rtl="1">
              <a:spcBef>
                <a:spcPts val="0"/>
              </a:spcBef>
              <a:spcAft>
                <a:spcPts val="0"/>
              </a:spcAft>
              <a:buNone/>
            </a:pPr>
            <a:r>
              <a:rPr lang="en"/>
              <a:t>כמות ההשכרות הכי גבוהה היא בשעות אחר הצהריים בין 15 ל 17. ההתנהגות הזאת נראית הגיונית.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2d36c595c8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2d36c595c8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r" rtl="1">
              <a:spcBef>
                <a:spcPts val="0"/>
              </a:spcBef>
              <a:spcAft>
                <a:spcPts val="0"/>
              </a:spcAft>
              <a:buNone/>
            </a:pPr>
            <a:r>
              <a:rPr lang="en">
                <a:solidFill>
                  <a:schemeClr val="dk1"/>
                </a:solidFill>
              </a:rPr>
              <a:t>בדקנו את כמות האופניים הכללית ואת החלוקה בין סוגי האופניים. גרף הפאי מראה שכמות האופניים הכללית מתחלקת כמעט שווה בשווה בין אופניים חשמליים לאופניים רגילים.</a:t>
            </a:r>
            <a:endParaRPr>
              <a:solidFill>
                <a:schemeClr val="dk1"/>
              </a:solidFill>
            </a:endParaRPr>
          </a:p>
          <a:p>
            <a:pPr marL="0" lvl="0" indent="0" algn="r" rtl="1">
              <a:spcBef>
                <a:spcPts val="0"/>
              </a:spcBef>
              <a:spcAft>
                <a:spcPts val="0"/>
              </a:spcAft>
              <a:buNone/>
            </a:pPr>
            <a:r>
              <a:rPr lang="en"/>
              <a:t>הגרף השמאלי מראה את אחוז ההשכרות בכל תחנת התחלה בחלוקה לפי סוג אופניים. בחרנו להתמקד בתחנות start station כי כאן היוזר בוחר את סוג האופניים. אפשר לראות בבירור שרוב היוזרים מעדיפים אופניים חשמליים.</a:t>
            </a:r>
            <a:endParaRPr/>
          </a:p>
          <a:p>
            <a:pPr marL="0" lvl="0" indent="0" algn="r" rtl="1">
              <a:spcBef>
                <a:spcPts val="0"/>
              </a:spcBef>
              <a:spcAft>
                <a:spcPts val="0"/>
              </a:spcAft>
              <a:buNone/>
            </a:pPr>
            <a:r>
              <a:rPr lang="en"/>
              <a:t>לפי כמות ההשכרות ולפי העדפת היוזרים נמליץ להוסיף עוד אופניים חשמליים ולצמצם את כמות האופניים הרגילים.</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r" rtl="1">
              <a:lnSpc>
                <a:spcPct val="150000"/>
              </a:lnSpc>
              <a:spcBef>
                <a:spcPts val="0"/>
              </a:spcBef>
              <a:spcAft>
                <a:spcPts val="0"/>
              </a:spcAft>
              <a:buNone/>
            </a:pPr>
            <a:r>
              <a:rPr lang="en" sz="1200">
                <a:solidFill>
                  <a:schemeClr val="dk1"/>
                </a:solidFill>
              </a:rPr>
              <a:t>הגרף מראה את כמות ההשכרות הממוצעת ליום ואת כמות ה docks בכל תחנות start station. </a:t>
            </a:r>
            <a:endParaRPr sz="1200">
              <a:solidFill>
                <a:schemeClr val="dk1"/>
              </a:solidFill>
            </a:endParaRPr>
          </a:p>
          <a:p>
            <a:pPr marL="0" lvl="0" indent="0" algn="r" rtl="1">
              <a:lnSpc>
                <a:spcPct val="150000"/>
              </a:lnSpc>
              <a:spcBef>
                <a:spcPts val="0"/>
              </a:spcBef>
              <a:spcAft>
                <a:spcPts val="0"/>
              </a:spcAft>
              <a:buNone/>
            </a:pPr>
            <a:r>
              <a:rPr lang="en" sz="1200">
                <a:solidFill>
                  <a:schemeClr val="dk1"/>
                </a:solidFill>
              </a:rPr>
              <a:t>תחנות 2498 ו 2547 הן תחנות פופולריות וניתן לראות שכמות ה docks לא מותאמת לכמות ההשכרות בכל יום.</a:t>
            </a:r>
            <a:endParaRPr sz="1200">
              <a:solidFill>
                <a:schemeClr val="dk1"/>
              </a:solidFill>
            </a:endParaRPr>
          </a:p>
          <a:p>
            <a:pPr marL="0" lvl="0" indent="0" algn="r" rtl="1">
              <a:lnSpc>
                <a:spcPct val="150000"/>
              </a:lnSpc>
              <a:spcBef>
                <a:spcPts val="0"/>
              </a:spcBef>
              <a:spcAft>
                <a:spcPts val="0"/>
              </a:spcAft>
              <a:buClr>
                <a:schemeClr val="dk1"/>
              </a:buClr>
              <a:buSzPts val="1100"/>
              <a:buFont typeface="Arial"/>
              <a:buNone/>
            </a:pPr>
            <a:r>
              <a:rPr lang="en" sz="1200">
                <a:solidFill>
                  <a:schemeClr val="dk1"/>
                </a:solidFill>
              </a:rPr>
              <a:t>לעומת זאת בתחנה 2566 יש כמות כפולה של docks ביחס לכמות ההשכרות הממוצעת ביום. נמליץ להעביר אופניים מתחנות פחות פופולריות לתחנות יותר פופולריות כדי שכמות האופניים תהיה מותאמת לביקוש + כמות קטנה של ספיירים.</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2d36c595c8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2d36c595c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r" rtl="1">
              <a:spcBef>
                <a:spcPts val="0"/>
              </a:spcBef>
              <a:spcAft>
                <a:spcPts val="0"/>
              </a:spcAft>
              <a:buNone/>
            </a:pPr>
            <a:r>
              <a:rPr lang="en"/>
              <a:t>מפת התחנות. תחנות פעילות מופיעות בצבע ירוק. תחנות סגורות בצבע אדום. והתחנות start station מופיעות בצבע כחול.ניתן לראות שרוב התחנות ממוקמות באזור האוניברסיטה ובמקומות שפופולריים בקרב הסטודנטים</a:t>
            </a:r>
            <a:endParaRPr/>
          </a:p>
          <a:p>
            <a:pPr marL="0" lvl="0" indent="0" algn="r" rtl="1">
              <a:spcBef>
                <a:spcPts val="0"/>
              </a:spcBef>
              <a:spcAft>
                <a:spcPts val="0"/>
              </a:spcAft>
              <a:buNone/>
            </a:pPr>
            <a:r>
              <a:rPr lang="en"/>
              <a:t>למשל את התחנה 2498 נמצאת ליד תחנת רכבת והיא כמעט היחידה שנמצאת באזור שם, זה מה שמסביר את הפופולריות שלה ..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2d36c595c8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2d36c595c8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r" rtl="1">
              <a:spcBef>
                <a:spcPts val="0"/>
              </a:spcBef>
              <a:spcAft>
                <a:spcPts val="0"/>
              </a:spcAft>
              <a:buNone/>
            </a:pPr>
            <a:r>
              <a:rPr lang="en"/>
              <a:t>הגרף מראה את הקורלציה בין סוג המנוי למספר ההשכרות. הקורלציה מראה לנו מה כדאי להעלות כדי למקסם את כמות ההשכרות.</a:t>
            </a:r>
            <a:endParaRPr/>
          </a:p>
          <a:p>
            <a:pPr marL="0" lvl="0" indent="0" algn="r" rtl="1">
              <a:spcBef>
                <a:spcPts val="0"/>
              </a:spcBef>
              <a:spcAft>
                <a:spcPts val="0"/>
              </a:spcAft>
              <a:buNone/>
            </a:pPr>
            <a:r>
              <a:rPr lang="en"/>
              <a:t>אפשר לראות קשר חיובי אבל לא מאוד חזק בין מנוי סטודנטים למספר ההשכרות. אם נגדיל את מספר המנויים של הסטודנטים אנחנו עשויים להגדיל את כמות ההשכרות.</a:t>
            </a:r>
            <a:endParaRPr/>
          </a:p>
          <a:p>
            <a:pPr marL="0" lvl="0" indent="0" algn="r" rtl="1">
              <a:spcBef>
                <a:spcPts val="0"/>
              </a:spcBef>
              <a:spcAft>
                <a:spcPts val="0"/>
              </a:spcAft>
              <a:buNone/>
            </a:pPr>
            <a:r>
              <a:rPr lang="en"/>
              <a:t>הטבלה מציגה את כמות התחנות וכמות ההשכרות לפי אזורים. אזור 9 נמצא סביב האוניברסיטה ושם כמות ההשכרות הכי גבוהה.</a:t>
            </a:r>
            <a:endParaRPr/>
          </a:p>
          <a:p>
            <a:pPr marL="0" lvl="0" indent="0" algn="r" rtl="1">
              <a:spcBef>
                <a:spcPts val="0"/>
              </a:spcBef>
              <a:spcAft>
                <a:spcPts val="0"/>
              </a:spcAft>
              <a:buNone/>
            </a:pPr>
            <a:r>
              <a:rPr lang="en"/>
              <a:t>נמליץ להוסיף עוד תחנות שיהיו פופולריות ע"י הסטודנטים כדי לנסות להגדיל את כמות המנויים.</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2d36c595c8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2d36c595c8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r" rtl="1">
              <a:spcBef>
                <a:spcPts val="0"/>
              </a:spcBef>
              <a:spcAft>
                <a:spcPts val="0"/>
              </a:spcAft>
              <a:buNone/>
            </a:pPr>
            <a:r>
              <a:rPr lang="en"/>
              <a:t>ניתוח סטטיסטי: המשתנה התלוי הוא כמות ההשכרות. המשתנים הבלתי תלויים שבדקנו הם: יום בסוף השבוע או באמצע השבוע. משך זמן הנסיעה. מספר ה docks בכל תחנה. האם המנוי הוא של סטודנטים או לא. סוג האופניים.</a:t>
            </a:r>
            <a:endParaRPr/>
          </a:p>
          <a:p>
            <a:pPr marL="0" lvl="0" indent="0" algn="r" rtl="1">
              <a:spcBef>
                <a:spcPts val="0"/>
              </a:spcBef>
              <a:spcAft>
                <a:spcPts val="0"/>
              </a:spcAft>
              <a:buNone/>
            </a:pPr>
            <a:r>
              <a:rPr lang="en"/>
              <a:t>עשינו קודם מספר רגרסיות לכל אחד מהמשתנים בנפרד עם כמות הנסיעות וקיבלנו מדד R שהוא נמוך משמע שהיינו צריכים להוסיף עוד משתנים ולבסוף הגענו למודל הזה ולמקדמים בעלי השפעה חיובית כמו השכרת אופניים חשמליים ומנויי סטודנטים , ההצעה שלנו לדאוג לתגבר הנסיעות המבוקש ביותר שמאופיין בכמות סטודנטים גבוהה וזה על ידי שקילת התקנת תחנות באזורים סטודניאלים </a:t>
            </a:r>
            <a:endParaRPr/>
          </a:p>
          <a:p>
            <a:pPr marL="0" lvl="0" indent="0" algn="r" rtl="1">
              <a:spcBef>
                <a:spcPts val="0"/>
              </a:spcBef>
              <a:spcAft>
                <a:spcPts val="0"/>
              </a:spcAft>
              <a:buNone/>
            </a:pPr>
            <a:r>
              <a:rPr lang="en"/>
              <a:t>בעזרת המודל הצלחנו לענות על שאלת הפרידקציה השתמשנו במקדמים של הרגרסיה וסיכמנו את הנתונים שהיו לנו וקיבלנו 45 נסיעות ליום שישי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1012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endParaRPr/>
          </a:p>
          <a:p>
            <a:pPr marL="0" lvl="0" indent="0" algn="ctr" rtl="0">
              <a:spcBef>
                <a:spcPts val="0"/>
              </a:spcBef>
              <a:spcAft>
                <a:spcPts val="0"/>
              </a:spcAft>
              <a:buNone/>
            </a:pPr>
            <a:r>
              <a:rPr lang="en" sz="3978"/>
              <a:t>Final Project:</a:t>
            </a:r>
            <a:endParaRPr sz="3978"/>
          </a:p>
        </p:txBody>
      </p:sp>
      <p:sp>
        <p:nvSpPr>
          <p:cNvPr id="55" name="Google Shape;55;p13"/>
          <p:cNvSpPr txBox="1">
            <a:spLocks noGrp="1"/>
          </p:cNvSpPr>
          <p:nvPr>
            <p:ph type="subTitle" idx="1"/>
          </p:nvPr>
        </p:nvSpPr>
        <p:spPr>
          <a:xfrm>
            <a:off x="311700" y="175677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Zen City’s Journey through Bike Rental Data</a:t>
            </a:r>
            <a:endParaRPr/>
          </a:p>
        </p:txBody>
      </p:sp>
      <p:sp>
        <p:nvSpPr>
          <p:cNvPr id="56" name="Google Shape;56;p13"/>
          <p:cNvSpPr txBox="1"/>
          <p:nvPr/>
        </p:nvSpPr>
        <p:spPr>
          <a:xfrm>
            <a:off x="213825" y="3731450"/>
            <a:ext cx="5760000" cy="6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Baraa Zoabi, Irit Mendzylewski</a:t>
            </a:r>
            <a:endParaRPr sz="1800">
              <a:solidFill>
                <a:schemeClr val="dk2"/>
              </a:solidFill>
            </a:endParaRPr>
          </a:p>
          <a:p>
            <a:pPr marL="0" lvl="0" indent="0" algn="l" rtl="0">
              <a:spcBef>
                <a:spcPts val="0"/>
              </a:spcBef>
              <a:spcAft>
                <a:spcPts val="0"/>
              </a:spcAft>
              <a:buNone/>
            </a:pPr>
            <a:endParaRPr sz="1800">
              <a:solidFill>
                <a:schemeClr val="dk2"/>
              </a:solidFill>
            </a:endParaRPr>
          </a:p>
          <a:p>
            <a:pPr marL="457200" lvl="0" indent="457200" algn="l" rtl="0">
              <a:spcBef>
                <a:spcPts val="0"/>
              </a:spcBef>
              <a:spcAft>
                <a:spcPts val="0"/>
              </a:spcAft>
              <a:buNone/>
            </a:pPr>
            <a:r>
              <a:rPr lang="en" sz="1800">
                <a:solidFill>
                  <a:schemeClr val="dk2"/>
                </a:solidFill>
              </a:rPr>
              <a:t>6.2.2025</a:t>
            </a:r>
            <a:endParaRPr sz="1800">
              <a:solidFill>
                <a:schemeClr val="dk2"/>
              </a:solidFill>
            </a:endParaRPr>
          </a:p>
          <a:p>
            <a:pPr marL="0" lvl="0" indent="0" algn="l" rtl="0">
              <a:spcBef>
                <a:spcPts val="0"/>
              </a:spcBef>
              <a:spcAft>
                <a:spcPts val="0"/>
              </a:spcAft>
              <a:buNone/>
            </a:pPr>
            <a:endParaRPr sz="1800">
              <a:solidFill>
                <a:schemeClr val="dk2"/>
              </a:solidFill>
            </a:endParaRPr>
          </a:p>
        </p:txBody>
      </p:sp>
      <p:pic>
        <p:nvPicPr>
          <p:cNvPr id="57" name="Google Shape;57;p13" descr="קובץ:Bike icon.png – ויקיפדיה"/>
          <p:cNvPicPr preferRelativeResize="0"/>
          <p:nvPr/>
        </p:nvPicPr>
        <p:blipFill>
          <a:blip r:embed="rId3">
            <a:alphaModFix/>
          </a:blip>
          <a:stretch>
            <a:fillRect/>
          </a:stretch>
        </p:blipFill>
        <p:spPr>
          <a:xfrm>
            <a:off x="3960700" y="3342300"/>
            <a:ext cx="2976275" cy="1658826"/>
          </a:xfrm>
          <a:prstGeom prst="rect">
            <a:avLst/>
          </a:prstGeom>
          <a:noFill/>
          <a:ln>
            <a:noFill/>
          </a:ln>
        </p:spPr>
      </p:pic>
      <p:sp>
        <p:nvSpPr>
          <p:cNvPr id="58" name="Google Shape;58;p13"/>
          <p:cNvSpPr txBox="1"/>
          <p:nvPr/>
        </p:nvSpPr>
        <p:spPr>
          <a:xfrm>
            <a:off x="1051825" y="2402225"/>
            <a:ext cx="7137300" cy="480300"/>
          </a:xfrm>
          <a:prstGeom prst="rect">
            <a:avLst/>
          </a:prstGeom>
          <a:solidFill>
            <a:srgbClr val="C9DAF8"/>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chemeClr val="dk1"/>
                </a:solidFill>
              </a:rPr>
              <a:t>Goal:</a:t>
            </a:r>
            <a:r>
              <a:rPr lang="en" sz="1800">
                <a:solidFill>
                  <a:schemeClr val="dk1"/>
                </a:solidFill>
              </a:rPr>
              <a:t> Optimize the business for more bike rentals in Q2 2022</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67413" y="3173375"/>
            <a:ext cx="4775400" cy="4803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sz="1200"/>
              <a:t>Rentals tend to be higher on weekdays compared to weekends</a:t>
            </a:r>
            <a:endParaRPr sz="1789"/>
          </a:p>
        </p:txBody>
      </p:sp>
      <p:pic>
        <p:nvPicPr>
          <p:cNvPr id="64" name="Google Shape;64;p14" title="Chart"/>
          <p:cNvPicPr preferRelativeResize="0"/>
          <p:nvPr/>
        </p:nvPicPr>
        <p:blipFill>
          <a:blip r:embed="rId3">
            <a:alphaModFix/>
          </a:blip>
          <a:stretch>
            <a:fillRect/>
          </a:stretch>
        </p:blipFill>
        <p:spPr>
          <a:xfrm>
            <a:off x="158787" y="282475"/>
            <a:ext cx="4481765" cy="2768150"/>
          </a:xfrm>
          <a:prstGeom prst="rect">
            <a:avLst/>
          </a:prstGeom>
          <a:noFill/>
          <a:ln>
            <a:noFill/>
          </a:ln>
        </p:spPr>
      </p:pic>
      <p:pic>
        <p:nvPicPr>
          <p:cNvPr id="65" name="Google Shape;65;p14" title="Chart"/>
          <p:cNvPicPr preferRelativeResize="0"/>
          <p:nvPr/>
        </p:nvPicPr>
        <p:blipFill>
          <a:blip r:embed="rId4">
            <a:alphaModFix/>
          </a:blip>
          <a:stretch>
            <a:fillRect/>
          </a:stretch>
        </p:blipFill>
        <p:spPr>
          <a:xfrm>
            <a:off x="4571999" y="1566563"/>
            <a:ext cx="4688824" cy="2898636"/>
          </a:xfrm>
          <a:prstGeom prst="rect">
            <a:avLst/>
          </a:prstGeom>
          <a:noFill/>
          <a:ln>
            <a:noFill/>
          </a:ln>
        </p:spPr>
      </p:pic>
      <p:sp>
        <p:nvSpPr>
          <p:cNvPr id="66" name="Google Shape;66;p14"/>
          <p:cNvSpPr txBox="1">
            <a:spLocks noGrp="1"/>
          </p:cNvSpPr>
          <p:nvPr>
            <p:ph type="title"/>
          </p:nvPr>
        </p:nvSpPr>
        <p:spPr>
          <a:xfrm>
            <a:off x="4345950" y="4405700"/>
            <a:ext cx="4899900" cy="614400"/>
          </a:xfrm>
          <a:prstGeom prst="rect">
            <a:avLst/>
          </a:prstGeom>
        </p:spPr>
        <p:txBody>
          <a:bodyPr spcFirstLastPara="1" wrap="square" lIns="91425" tIns="91425" rIns="91425" bIns="91425" anchor="t" anchorCtr="0">
            <a:noAutofit/>
          </a:bodyPr>
          <a:lstStyle/>
          <a:p>
            <a:pPr marL="0" lvl="0" indent="0" algn="ctr" rtl="0">
              <a:lnSpc>
                <a:spcPct val="150000"/>
              </a:lnSpc>
              <a:spcBef>
                <a:spcPts val="0"/>
              </a:spcBef>
              <a:spcAft>
                <a:spcPts val="0"/>
              </a:spcAft>
              <a:buClr>
                <a:schemeClr val="dk1"/>
              </a:buClr>
              <a:buSzPts val="1100"/>
              <a:buFont typeface="Arial"/>
              <a:buNone/>
            </a:pPr>
            <a:r>
              <a:rPr lang="en" sz="1200"/>
              <a:t>Peak rental times around 9 AM and 12 PM - 5 PM</a:t>
            </a:r>
            <a:endParaRPr sz="1789"/>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04750" y="403750"/>
            <a:ext cx="387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789"/>
              <a:t>Most of the users prefer electric bike</a:t>
            </a:r>
            <a:endParaRPr sz="1789"/>
          </a:p>
        </p:txBody>
      </p:sp>
      <p:pic>
        <p:nvPicPr>
          <p:cNvPr id="72" name="Google Shape;72;p15" title="Chart"/>
          <p:cNvPicPr preferRelativeResize="0"/>
          <p:nvPr/>
        </p:nvPicPr>
        <p:blipFill>
          <a:blip r:embed="rId3">
            <a:alphaModFix/>
          </a:blip>
          <a:stretch>
            <a:fillRect/>
          </a:stretch>
        </p:blipFill>
        <p:spPr>
          <a:xfrm>
            <a:off x="186450" y="850025"/>
            <a:ext cx="4545624" cy="2810700"/>
          </a:xfrm>
          <a:prstGeom prst="rect">
            <a:avLst/>
          </a:prstGeom>
          <a:noFill/>
          <a:ln>
            <a:noFill/>
          </a:ln>
        </p:spPr>
      </p:pic>
      <p:pic>
        <p:nvPicPr>
          <p:cNvPr id="73" name="Google Shape;73;p15" title="Chart"/>
          <p:cNvPicPr preferRelativeResize="0"/>
          <p:nvPr/>
        </p:nvPicPr>
        <p:blipFill>
          <a:blip r:embed="rId4">
            <a:alphaModFix/>
          </a:blip>
          <a:stretch>
            <a:fillRect/>
          </a:stretch>
        </p:blipFill>
        <p:spPr>
          <a:xfrm>
            <a:off x="5084326" y="1081050"/>
            <a:ext cx="3798351" cy="2348651"/>
          </a:xfrm>
          <a:prstGeom prst="rect">
            <a:avLst/>
          </a:prstGeom>
          <a:noFill/>
          <a:ln>
            <a:noFill/>
          </a:ln>
        </p:spPr>
      </p:pic>
      <p:sp>
        <p:nvSpPr>
          <p:cNvPr id="74" name="Google Shape;74;p15"/>
          <p:cNvSpPr txBox="1">
            <a:spLocks noGrp="1"/>
          </p:cNvSpPr>
          <p:nvPr>
            <p:ph type="title"/>
          </p:nvPr>
        </p:nvSpPr>
        <p:spPr>
          <a:xfrm>
            <a:off x="4895825" y="403750"/>
            <a:ext cx="4308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789"/>
              <a:t>Number of bikes per type is almost equal </a:t>
            </a:r>
            <a:endParaRPr sz="1789"/>
          </a:p>
        </p:txBody>
      </p:sp>
      <p:sp>
        <p:nvSpPr>
          <p:cNvPr id="75" name="Google Shape;75;p15"/>
          <p:cNvSpPr txBox="1"/>
          <p:nvPr/>
        </p:nvSpPr>
        <p:spPr>
          <a:xfrm>
            <a:off x="695875" y="3799550"/>
            <a:ext cx="7870500" cy="68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would recommend adding more electric bikes and reduce classic bikes</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6" title="Chart"/>
          <p:cNvPicPr preferRelativeResize="0"/>
          <p:nvPr/>
        </p:nvPicPr>
        <p:blipFill>
          <a:blip r:embed="rId3">
            <a:alphaModFix/>
          </a:blip>
          <a:stretch>
            <a:fillRect/>
          </a:stretch>
        </p:blipFill>
        <p:spPr>
          <a:xfrm>
            <a:off x="1479700" y="382625"/>
            <a:ext cx="5917601" cy="3659699"/>
          </a:xfrm>
          <a:prstGeom prst="rect">
            <a:avLst/>
          </a:prstGeom>
          <a:noFill/>
          <a:ln>
            <a:noFill/>
          </a:ln>
        </p:spPr>
      </p:pic>
      <p:sp>
        <p:nvSpPr>
          <p:cNvPr id="81" name="Google Shape;81;p16"/>
          <p:cNvSpPr txBox="1"/>
          <p:nvPr/>
        </p:nvSpPr>
        <p:spPr>
          <a:xfrm>
            <a:off x="709800" y="4147500"/>
            <a:ext cx="7870500" cy="54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a:solidFill>
                  <a:schemeClr val="dk1"/>
                </a:solidFill>
              </a:rPr>
              <a:t>Moving docks and bikes to popular start station will provide more bikes to customers</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subTitle" idx="1"/>
          </p:nvPr>
        </p:nvSpPr>
        <p:spPr>
          <a:xfrm>
            <a:off x="225025" y="117900"/>
            <a:ext cx="8520600" cy="1089900"/>
          </a:xfrm>
          <a:prstGeom prst="rect">
            <a:avLst/>
          </a:prstGeom>
        </p:spPr>
        <p:txBody>
          <a:bodyPr spcFirstLastPara="1" wrap="square" lIns="91425" tIns="91425" rIns="91425" bIns="91425" anchor="t" anchorCtr="0">
            <a:normAutofit fontScale="40000" lnSpcReduction="20000"/>
          </a:bodyPr>
          <a:lstStyle/>
          <a:p>
            <a:pPr marL="0" lvl="0" indent="0" algn="ctr" rtl="0">
              <a:lnSpc>
                <a:spcPct val="150000"/>
              </a:lnSpc>
              <a:spcBef>
                <a:spcPts val="0"/>
              </a:spcBef>
              <a:spcAft>
                <a:spcPts val="0"/>
              </a:spcAft>
              <a:buNone/>
            </a:pPr>
            <a:r>
              <a:rPr lang="en" sz="5716">
                <a:solidFill>
                  <a:schemeClr val="dk1"/>
                </a:solidFill>
              </a:rPr>
              <a:t>Geographical Analysis</a:t>
            </a:r>
            <a:endParaRPr sz="5716">
              <a:solidFill>
                <a:schemeClr val="dk1"/>
              </a:solidFill>
            </a:endParaRPr>
          </a:p>
          <a:p>
            <a:pPr marL="0" lvl="0" indent="0" algn="ctr" rtl="0">
              <a:lnSpc>
                <a:spcPct val="150000"/>
              </a:lnSpc>
              <a:spcBef>
                <a:spcPts val="0"/>
              </a:spcBef>
              <a:spcAft>
                <a:spcPts val="0"/>
              </a:spcAft>
              <a:buNone/>
            </a:pPr>
            <a:r>
              <a:rPr lang="en" sz="3906">
                <a:solidFill>
                  <a:schemeClr val="dk1"/>
                </a:solidFill>
              </a:rPr>
              <a:t>Stations Map</a:t>
            </a:r>
            <a:endParaRPr sz="3906">
              <a:solidFill>
                <a:schemeClr val="dk1"/>
              </a:solidFill>
            </a:endParaRPr>
          </a:p>
          <a:p>
            <a:pPr marL="0" lvl="0" indent="0" algn="ctr" rtl="0">
              <a:spcBef>
                <a:spcPts val="0"/>
              </a:spcBef>
              <a:spcAft>
                <a:spcPts val="0"/>
              </a:spcAft>
              <a:buNone/>
            </a:pPr>
            <a:endParaRPr>
              <a:solidFill>
                <a:schemeClr val="dk1"/>
              </a:solidFill>
            </a:endParaRPr>
          </a:p>
        </p:txBody>
      </p:sp>
      <p:pic>
        <p:nvPicPr>
          <p:cNvPr id="87" name="Google Shape;87;p17"/>
          <p:cNvPicPr preferRelativeResize="0"/>
          <p:nvPr/>
        </p:nvPicPr>
        <p:blipFill>
          <a:blip r:embed="rId3">
            <a:alphaModFix/>
          </a:blip>
          <a:stretch>
            <a:fillRect/>
          </a:stretch>
        </p:blipFill>
        <p:spPr>
          <a:xfrm>
            <a:off x="44225" y="0"/>
            <a:ext cx="2411087" cy="1326824"/>
          </a:xfrm>
          <a:prstGeom prst="rect">
            <a:avLst/>
          </a:prstGeom>
          <a:noFill/>
          <a:ln>
            <a:noFill/>
          </a:ln>
        </p:spPr>
      </p:pic>
      <p:pic>
        <p:nvPicPr>
          <p:cNvPr id="88" name="Google Shape;88;p17"/>
          <p:cNvPicPr preferRelativeResize="0"/>
          <p:nvPr/>
        </p:nvPicPr>
        <p:blipFill>
          <a:blip r:embed="rId4">
            <a:alphaModFix/>
          </a:blip>
          <a:stretch>
            <a:fillRect/>
          </a:stretch>
        </p:blipFill>
        <p:spPr>
          <a:xfrm>
            <a:off x="2455300" y="1326825"/>
            <a:ext cx="6701724" cy="3912274"/>
          </a:xfrm>
          <a:prstGeom prst="rect">
            <a:avLst/>
          </a:prstGeom>
          <a:noFill/>
          <a:ln>
            <a:noFill/>
          </a:ln>
        </p:spPr>
      </p:pic>
      <p:graphicFrame>
        <p:nvGraphicFramePr>
          <p:cNvPr id="89" name="Google Shape;89;p17"/>
          <p:cNvGraphicFramePr/>
          <p:nvPr/>
        </p:nvGraphicFramePr>
        <p:xfrm>
          <a:off x="225025" y="2791750"/>
          <a:ext cx="3000000" cy="3000000"/>
        </p:xfrm>
        <a:graphic>
          <a:graphicData uri="http://schemas.openxmlformats.org/drawingml/2006/table">
            <a:tbl>
              <a:tblPr>
                <a:noFill/>
                <a:tableStyleId>{11E7AC29-4C70-486F-B4B8-AB7EE2EC334C}</a:tableStyleId>
              </a:tblPr>
              <a:tblGrid>
                <a:gridCol w="1078675">
                  <a:extLst>
                    <a:ext uri="{9D8B030D-6E8A-4147-A177-3AD203B41FA5}">
                      <a16:colId xmlns:a16="http://schemas.microsoft.com/office/drawing/2014/main" val="20000"/>
                    </a:ext>
                  </a:extLst>
                </a:gridCol>
                <a:gridCol w="989600">
                  <a:extLst>
                    <a:ext uri="{9D8B030D-6E8A-4147-A177-3AD203B41FA5}">
                      <a16:colId xmlns:a16="http://schemas.microsoft.com/office/drawing/2014/main" val="20001"/>
                    </a:ext>
                  </a:extLst>
                </a:gridCol>
              </a:tblGrid>
              <a:tr h="387475">
                <a:tc>
                  <a:txBody>
                    <a:bodyPr/>
                    <a:lstStyle/>
                    <a:p>
                      <a:pPr marL="0" lvl="0" indent="0" algn="ctr" rtl="0">
                        <a:lnSpc>
                          <a:spcPct val="115000"/>
                        </a:lnSpc>
                        <a:spcBef>
                          <a:spcPts val="0"/>
                        </a:spcBef>
                        <a:spcAft>
                          <a:spcPts val="0"/>
                        </a:spcAft>
                        <a:buNone/>
                      </a:pPr>
                      <a:r>
                        <a:rPr lang="en" sz="1000"/>
                        <a:t>Duration minutes</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F3F3F3"/>
                    </a:solidFill>
                  </a:tcPr>
                </a:tc>
                <a:tc>
                  <a:txBody>
                    <a:bodyPr/>
                    <a:lstStyle/>
                    <a:p>
                      <a:pPr marL="0" lvl="0" indent="0" algn="ctr" rtl="0">
                        <a:lnSpc>
                          <a:spcPct val="115000"/>
                        </a:lnSpc>
                        <a:spcBef>
                          <a:spcPts val="0"/>
                        </a:spcBef>
                        <a:spcAft>
                          <a:spcPts val="0"/>
                        </a:spcAft>
                        <a:buNone/>
                      </a:pPr>
                      <a:r>
                        <a:rPr lang="en" sz="1000"/>
                        <a:t>Frequency</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213100">
                <a:tc>
                  <a:txBody>
                    <a:bodyPr/>
                    <a:lstStyle/>
                    <a:p>
                      <a:pPr marL="0" lvl="0" indent="0" algn="ctr" rtl="0">
                        <a:lnSpc>
                          <a:spcPct val="115000"/>
                        </a:lnSpc>
                        <a:spcBef>
                          <a:spcPts val="0"/>
                        </a:spcBef>
                        <a:spcAft>
                          <a:spcPts val="0"/>
                        </a:spcAft>
                        <a:buNone/>
                      </a:pPr>
                      <a:r>
                        <a:rPr lang="en" sz="1000"/>
                        <a:t>4</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FE2F3"/>
                    </a:solidFill>
                  </a:tcPr>
                </a:tc>
                <a:tc>
                  <a:txBody>
                    <a:bodyPr/>
                    <a:lstStyle/>
                    <a:p>
                      <a:pPr marL="0" lvl="0" indent="0" algn="ctr" rtl="0">
                        <a:lnSpc>
                          <a:spcPct val="115000"/>
                        </a:lnSpc>
                        <a:spcBef>
                          <a:spcPts val="0"/>
                        </a:spcBef>
                        <a:spcAft>
                          <a:spcPts val="0"/>
                        </a:spcAft>
                        <a:buNone/>
                      </a:pPr>
                      <a:r>
                        <a:rPr lang="en" sz="1000"/>
                        <a:t>1124</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213100">
                <a:tc>
                  <a:txBody>
                    <a:bodyPr/>
                    <a:lstStyle/>
                    <a:p>
                      <a:pPr marL="0" lvl="0" indent="0" algn="ctr" rtl="0">
                        <a:lnSpc>
                          <a:spcPct val="115000"/>
                        </a:lnSpc>
                        <a:spcBef>
                          <a:spcPts val="0"/>
                        </a:spcBef>
                        <a:spcAft>
                          <a:spcPts val="0"/>
                        </a:spcAft>
                        <a:buNone/>
                      </a:pPr>
                      <a:r>
                        <a:rPr lang="en" sz="1000"/>
                        <a:t>3</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1094</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13100">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998</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13100">
                <a:tc>
                  <a:txBody>
                    <a:bodyPr/>
                    <a:lstStyle/>
                    <a:p>
                      <a:pPr marL="0" lvl="0" indent="0" algn="ctr" rtl="0">
                        <a:lnSpc>
                          <a:spcPct val="115000"/>
                        </a:lnSpc>
                        <a:spcBef>
                          <a:spcPts val="0"/>
                        </a:spcBef>
                        <a:spcAft>
                          <a:spcPts val="0"/>
                        </a:spcAft>
                        <a:buNone/>
                      </a:pPr>
                      <a:r>
                        <a:rPr lang="en" sz="1000"/>
                        <a:t>6</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696</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13100">
                <a:tc>
                  <a:txBody>
                    <a:bodyPr/>
                    <a:lstStyle/>
                    <a:p>
                      <a:pPr marL="0" lvl="0" indent="0" algn="ctr" rtl="0">
                        <a:lnSpc>
                          <a:spcPct val="115000"/>
                        </a:lnSpc>
                        <a:spcBef>
                          <a:spcPts val="0"/>
                        </a:spcBef>
                        <a:spcAft>
                          <a:spcPts val="0"/>
                        </a:spcAft>
                        <a:buNone/>
                      </a:pPr>
                      <a:r>
                        <a:rPr lang="en" sz="1000"/>
                        <a:t>2</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565</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13100">
                <a:tc>
                  <a:txBody>
                    <a:bodyPr/>
                    <a:lstStyle/>
                    <a:p>
                      <a:pPr marL="0" lvl="0" indent="0" algn="ctr" rtl="0">
                        <a:lnSpc>
                          <a:spcPct val="115000"/>
                        </a:lnSpc>
                        <a:spcBef>
                          <a:spcPts val="0"/>
                        </a:spcBef>
                        <a:spcAft>
                          <a:spcPts val="0"/>
                        </a:spcAft>
                        <a:buNone/>
                      </a:pPr>
                      <a:r>
                        <a:rPr lang="en" sz="1000"/>
                        <a:t>7</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468</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13100">
                <a:tc>
                  <a:txBody>
                    <a:bodyPr/>
                    <a:lstStyle/>
                    <a:p>
                      <a:pPr marL="0" lvl="0" indent="0" algn="ctr" rtl="0">
                        <a:lnSpc>
                          <a:spcPct val="115000"/>
                        </a:lnSpc>
                        <a:spcBef>
                          <a:spcPts val="0"/>
                        </a:spcBef>
                        <a:spcAft>
                          <a:spcPts val="0"/>
                        </a:spcAft>
                        <a:buNone/>
                      </a:pPr>
                      <a:r>
                        <a:rPr lang="en" sz="1000"/>
                        <a:t>8</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329</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13100">
                <a:tc>
                  <a:txBody>
                    <a:bodyPr/>
                    <a:lstStyle/>
                    <a:p>
                      <a:pPr marL="0" lvl="0" indent="0" algn="ctr" rtl="0">
                        <a:lnSpc>
                          <a:spcPct val="115000"/>
                        </a:lnSpc>
                        <a:spcBef>
                          <a:spcPts val="0"/>
                        </a:spcBef>
                        <a:spcAft>
                          <a:spcPts val="0"/>
                        </a:spcAft>
                        <a:buNone/>
                      </a:pPr>
                      <a:r>
                        <a:rPr lang="en" sz="1000"/>
                        <a:t>9</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230</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213100">
                <a:tc>
                  <a:txBody>
                    <a:bodyPr/>
                    <a:lstStyle/>
                    <a:p>
                      <a:pPr marL="0" lvl="0" indent="0" algn="ctr" rtl="0">
                        <a:lnSpc>
                          <a:spcPct val="115000"/>
                        </a:lnSpc>
                        <a:spcBef>
                          <a:spcPts val="0"/>
                        </a:spcBef>
                        <a:spcAft>
                          <a:spcPts val="0"/>
                        </a:spcAft>
                        <a:buNone/>
                      </a:pPr>
                      <a:r>
                        <a:rPr lang="en" sz="1000"/>
                        <a:t>10</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173</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
        <p:nvSpPr>
          <p:cNvPr id="90" name="Google Shape;90;p17"/>
          <p:cNvSpPr/>
          <p:nvPr/>
        </p:nvSpPr>
        <p:spPr>
          <a:xfrm rot="8100000">
            <a:off x="149114" y="1442544"/>
            <a:ext cx="164190" cy="164190"/>
          </a:xfrm>
          <a:prstGeom prst="teardrop">
            <a:avLst>
              <a:gd name="adj" fmla="val 156960"/>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 name="Google Shape;91;p17"/>
          <p:cNvSpPr/>
          <p:nvPr/>
        </p:nvSpPr>
        <p:spPr>
          <a:xfrm rot="8100000">
            <a:off x="149114" y="1850794"/>
            <a:ext cx="164190" cy="164190"/>
          </a:xfrm>
          <a:prstGeom prst="teardrop">
            <a:avLst>
              <a:gd name="adj" fmla="val 156960"/>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 name="Google Shape;92;p17"/>
          <p:cNvSpPr/>
          <p:nvPr/>
        </p:nvSpPr>
        <p:spPr>
          <a:xfrm rot="8100000">
            <a:off x="149114" y="2259044"/>
            <a:ext cx="164190" cy="164190"/>
          </a:xfrm>
          <a:prstGeom prst="teardrop">
            <a:avLst>
              <a:gd name="adj" fmla="val 15696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p17"/>
          <p:cNvSpPr txBox="1"/>
          <p:nvPr/>
        </p:nvSpPr>
        <p:spPr>
          <a:xfrm>
            <a:off x="279863" y="1387950"/>
            <a:ext cx="1765500" cy="108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2"/>
                </a:solidFill>
              </a:rPr>
              <a:t>Active station</a:t>
            </a:r>
            <a:endParaRPr sz="1000">
              <a:solidFill>
                <a:schemeClr val="dk2"/>
              </a:solidFill>
            </a:endParaRPr>
          </a:p>
          <a:p>
            <a:pPr marL="0" lvl="0" indent="0" algn="l" rtl="0">
              <a:spcBef>
                <a:spcPts val="0"/>
              </a:spcBef>
              <a:spcAft>
                <a:spcPts val="0"/>
              </a:spcAft>
              <a:buNone/>
            </a:pPr>
            <a:endParaRPr sz="1700">
              <a:solidFill>
                <a:schemeClr val="dk2"/>
              </a:solidFill>
            </a:endParaRPr>
          </a:p>
          <a:p>
            <a:pPr marL="0" lvl="0" indent="0" algn="l" rtl="0">
              <a:spcBef>
                <a:spcPts val="0"/>
              </a:spcBef>
              <a:spcAft>
                <a:spcPts val="0"/>
              </a:spcAft>
              <a:buNone/>
            </a:pPr>
            <a:r>
              <a:rPr lang="en" sz="1000">
                <a:solidFill>
                  <a:schemeClr val="dk2"/>
                </a:solidFill>
              </a:rPr>
              <a:t>Active start station</a:t>
            </a:r>
            <a:endParaRPr sz="1000">
              <a:solidFill>
                <a:schemeClr val="dk2"/>
              </a:solidFill>
            </a:endParaRPr>
          </a:p>
          <a:p>
            <a:pPr marL="0" lvl="0" indent="0" algn="l" rtl="0">
              <a:spcBef>
                <a:spcPts val="0"/>
              </a:spcBef>
              <a:spcAft>
                <a:spcPts val="0"/>
              </a:spcAft>
              <a:buNone/>
            </a:pPr>
            <a:endParaRPr sz="1000">
              <a:solidFill>
                <a:schemeClr val="dk2"/>
              </a:solidFill>
            </a:endParaRPr>
          </a:p>
          <a:p>
            <a:pPr marL="0" lvl="0" indent="0" algn="l" rtl="0">
              <a:spcBef>
                <a:spcPts val="0"/>
              </a:spcBef>
              <a:spcAft>
                <a:spcPts val="0"/>
              </a:spcAft>
              <a:buNone/>
            </a:pPr>
            <a:endParaRPr sz="600">
              <a:solidFill>
                <a:schemeClr val="dk2"/>
              </a:solidFill>
            </a:endParaRPr>
          </a:p>
          <a:p>
            <a:pPr marL="0" lvl="0" indent="0" algn="l" rtl="0">
              <a:spcBef>
                <a:spcPts val="0"/>
              </a:spcBef>
              <a:spcAft>
                <a:spcPts val="0"/>
              </a:spcAft>
              <a:buClr>
                <a:schemeClr val="dk1"/>
              </a:buClr>
              <a:buSzPts val="1100"/>
              <a:buFont typeface="Arial"/>
              <a:buNone/>
            </a:pPr>
            <a:r>
              <a:rPr lang="en" sz="1000">
                <a:solidFill>
                  <a:schemeClr val="dk2"/>
                </a:solidFill>
              </a:rPr>
              <a:t>Close station</a:t>
            </a:r>
            <a:endParaRPr sz="10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subTitle" idx="1"/>
          </p:nvPr>
        </p:nvSpPr>
        <p:spPr>
          <a:xfrm>
            <a:off x="457825" y="3618625"/>
            <a:ext cx="8520600" cy="648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700">
                <a:solidFill>
                  <a:schemeClr val="dk1"/>
                </a:solidFill>
              </a:rPr>
              <a:t>We would recommend to add more station located in popular student areas</a:t>
            </a:r>
            <a:endParaRPr sz="1700">
              <a:solidFill>
                <a:schemeClr val="dk1"/>
              </a:solidFill>
            </a:endParaRPr>
          </a:p>
        </p:txBody>
      </p:sp>
      <p:pic>
        <p:nvPicPr>
          <p:cNvPr id="99" name="Google Shape;99;p18" title="Chart"/>
          <p:cNvPicPr preferRelativeResize="0"/>
          <p:nvPr/>
        </p:nvPicPr>
        <p:blipFill>
          <a:blip r:embed="rId3">
            <a:alphaModFix/>
          </a:blip>
          <a:stretch>
            <a:fillRect/>
          </a:stretch>
        </p:blipFill>
        <p:spPr>
          <a:xfrm>
            <a:off x="542475" y="319400"/>
            <a:ext cx="5087874" cy="3139175"/>
          </a:xfrm>
          <a:prstGeom prst="rect">
            <a:avLst/>
          </a:prstGeom>
          <a:noFill/>
          <a:ln>
            <a:noFill/>
          </a:ln>
        </p:spPr>
      </p:pic>
      <p:graphicFrame>
        <p:nvGraphicFramePr>
          <p:cNvPr id="100" name="Google Shape;100;p18"/>
          <p:cNvGraphicFramePr/>
          <p:nvPr/>
        </p:nvGraphicFramePr>
        <p:xfrm>
          <a:off x="5720875" y="1459975"/>
          <a:ext cx="3000000" cy="3000000"/>
        </p:xfrm>
        <a:graphic>
          <a:graphicData uri="http://schemas.openxmlformats.org/drawingml/2006/table">
            <a:tbl>
              <a:tblPr>
                <a:noFill/>
                <a:tableStyleId>{F219CF45-A768-41B6-9FCF-DA1236091B1B}</a:tableStyleId>
              </a:tblPr>
              <a:tblGrid>
                <a:gridCol w="928075">
                  <a:extLst>
                    <a:ext uri="{9D8B030D-6E8A-4147-A177-3AD203B41FA5}">
                      <a16:colId xmlns:a16="http://schemas.microsoft.com/office/drawing/2014/main" val="20000"/>
                    </a:ext>
                  </a:extLst>
                </a:gridCol>
                <a:gridCol w="1150800">
                  <a:extLst>
                    <a:ext uri="{9D8B030D-6E8A-4147-A177-3AD203B41FA5}">
                      <a16:colId xmlns:a16="http://schemas.microsoft.com/office/drawing/2014/main" val="20001"/>
                    </a:ext>
                  </a:extLst>
                </a:gridCol>
                <a:gridCol w="1095150">
                  <a:extLst>
                    <a:ext uri="{9D8B030D-6E8A-4147-A177-3AD203B41FA5}">
                      <a16:colId xmlns:a16="http://schemas.microsoft.com/office/drawing/2014/main" val="20002"/>
                    </a:ext>
                  </a:extLst>
                </a:gridCol>
              </a:tblGrid>
              <a:tr h="408900">
                <a:tc>
                  <a:txBody>
                    <a:bodyPr/>
                    <a:lstStyle/>
                    <a:p>
                      <a:pPr marL="0" lvl="0" indent="0" algn="ctr" rtl="0">
                        <a:lnSpc>
                          <a:spcPct val="115000"/>
                        </a:lnSpc>
                        <a:spcBef>
                          <a:spcPts val="0"/>
                        </a:spcBef>
                        <a:spcAft>
                          <a:spcPts val="0"/>
                        </a:spcAft>
                        <a:buNone/>
                      </a:pPr>
                      <a:r>
                        <a:rPr lang="en" sz="1000"/>
                        <a:t>Council district</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 sz="1000"/>
                        <a:t>Number of stations</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lvl="0" indent="0" algn="ctr" rtl="0">
                        <a:lnSpc>
                          <a:spcPct val="115000"/>
                        </a:lnSpc>
                        <a:spcBef>
                          <a:spcPts val="0"/>
                        </a:spcBef>
                        <a:spcAft>
                          <a:spcPts val="0"/>
                        </a:spcAft>
                        <a:buNone/>
                      </a:pPr>
                      <a:r>
                        <a:rPr lang="en" sz="1000"/>
                        <a:t>Number of rentals</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extLst>
                  <a:ext uri="{0D108BD9-81ED-4DB2-BD59-A6C34878D82A}">
                    <a16:rowId xmlns:a16="http://schemas.microsoft.com/office/drawing/2014/main" val="10000"/>
                  </a:ext>
                </a:extLst>
              </a:tr>
              <a:tr h="219575">
                <a:tc>
                  <a:txBody>
                    <a:bodyPr/>
                    <a:lstStyle/>
                    <a:p>
                      <a:pPr marL="0" lvl="0" indent="0" algn="ctr" rtl="0">
                        <a:lnSpc>
                          <a:spcPct val="115000"/>
                        </a:lnSpc>
                        <a:spcBef>
                          <a:spcPts val="0"/>
                        </a:spcBef>
                        <a:spcAft>
                          <a:spcPts val="0"/>
                        </a:spcAft>
                        <a:buNone/>
                      </a:pPr>
                      <a:r>
                        <a:rPr lang="en" sz="1000"/>
                        <a:t>1</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16</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1380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19575">
                <a:tc>
                  <a:txBody>
                    <a:bodyPr/>
                    <a:lstStyle/>
                    <a:p>
                      <a:pPr marL="0" lvl="0" indent="0" algn="ctr" rtl="0">
                        <a:lnSpc>
                          <a:spcPct val="115000"/>
                        </a:lnSpc>
                        <a:spcBef>
                          <a:spcPts val="0"/>
                        </a:spcBef>
                        <a:spcAft>
                          <a:spcPts val="0"/>
                        </a:spcAft>
                        <a:buNone/>
                      </a:pPr>
                      <a:r>
                        <a:rPr lang="en" sz="1000"/>
                        <a:t>9</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a:t>59</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a:t>7700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extLst>
                  <a:ext uri="{0D108BD9-81ED-4DB2-BD59-A6C34878D82A}">
                    <a16:rowId xmlns:a16="http://schemas.microsoft.com/office/drawing/2014/main" val="10002"/>
                  </a:ext>
                </a:extLst>
              </a:tr>
              <a:tr h="219575">
                <a:tc>
                  <a:txBody>
                    <a:bodyPr/>
                    <a:lstStyle/>
                    <a:p>
                      <a:pPr marL="0" lvl="0" indent="0" algn="ctr" rtl="0">
                        <a:lnSpc>
                          <a:spcPct val="115000"/>
                        </a:lnSpc>
                        <a:spcBef>
                          <a:spcPts val="0"/>
                        </a:spcBef>
                        <a:spcAft>
                          <a:spcPts val="0"/>
                        </a:spcAft>
                        <a:buNone/>
                      </a:pPr>
                      <a:r>
                        <a:rPr lang="en" sz="1000"/>
                        <a:t>3</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16</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731</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19575">
                <a:tc>
                  <a:txBody>
                    <a:bodyPr/>
                    <a:lstStyle/>
                    <a:p>
                      <a:pPr marL="0" lvl="0" indent="0" algn="ctr" rtl="0">
                        <a:lnSpc>
                          <a:spcPct val="115000"/>
                        </a:lnSpc>
                        <a:spcBef>
                          <a:spcPts val="0"/>
                        </a:spcBef>
                        <a:spcAft>
                          <a:spcPts val="0"/>
                        </a:spcAft>
                        <a:buNone/>
                      </a:pPr>
                      <a:r>
                        <a:rPr lang="en" sz="1000"/>
                        <a:t>5</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a:t>5</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219575">
                <a:tc>
                  <a:txBody>
                    <a:bodyPr/>
                    <a:lstStyle/>
                    <a:p>
                      <a:pPr marL="0" lvl="0" indent="0" algn="ctr" rtl="0">
                        <a:lnSpc>
                          <a:spcPct val="115000"/>
                        </a:lnSpc>
                        <a:spcBef>
                          <a:spcPts val="0"/>
                        </a:spcBef>
                        <a:spcAft>
                          <a:spcPts val="0"/>
                        </a:spcAft>
                        <a:buNone/>
                      </a:pPr>
                      <a:r>
                        <a:rPr lang="en" sz="1000"/>
                        <a:t>8</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a:t>3</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19575">
                <a:tc>
                  <a:txBody>
                    <a:bodyPr/>
                    <a:lstStyle/>
                    <a:p>
                      <a:pPr marL="0" lvl="0" indent="0" algn="ctr" rtl="0">
                        <a:lnSpc>
                          <a:spcPct val="115000"/>
                        </a:lnSpc>
                        <a:spcBef>
                          <a:spcPts val="0"/>
                        </a:spcBef>
                        <a:spcAft>
                          <a:spcPts val="0"/>
                        </a:spcAft>
                        <a:buNone/>
                      </a:pPr>
                      <a:r>
                        <a:rPr lang="en" sz="1000"/>
                        <a:t>10</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a:t>2</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0</a:t>
                      </a:r>
                      <a:endParaRPr sz="1000"/>
                    </a:p>
                  </a:txBody>
                  <a:tcPr marL="25400" marR="25400" marT="25400" marB="2540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ctrTitle"/>
          </p:nvPr>
        </p:nvSpPr>
        <p:spPr>
          <a:xfrm>
            <a:off x="915700" y="139025"/>
            <a:ext cx="8520600" cy="553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a:t>Regression results: Variables affecting bike rentals</a:t>
            </a:r>
            <a:endParaRPr sz="2400"/>
          </a:p>
        </p:txBody>
      </p:sp>
      <p:graphicFrame>
        <p:nvGraphicFramePr>
          <p:cNvPr id="108" name="Google Shape;108;p19"/>
          <p:cNvGraphicFramePr/>
          <p:nvPr/>
        </p:nvGraphicFramePr>
        <p:xfrm>
          <a:off x="2393413" y="1134163"/>
          <a:ext cx="4357175" cy="2923413"/>
        </p:xfrm>
        <a:graphic>
          <a:graphicData uri="http://schemas.openxmlformats.org/drawingml/2006/table">
            <a:tbl>
              <a:tblPr>
                <a:noFill/>
                <a:tableStyleId>{E374253B-E77B-45DE-8CC3-3D940C41A839}</a:tableStyleId>
              </a:tblPr>
              <a:tblGrid>
                <a:gridCol w="1836675">
                  <a:extLst>
                    <a:ext uri="{9D8B030D-6E8A-4147-A177-3AD203B41FA5}">
                      <a16:colId xmlns:a16="http://schemas.microsoft.com/office/drawing/2014/main" val="20000"/>
                    </a:ext>
                  </a:extLst>
                </a:gridCol>
                <a:gridCol w="1260250">
                  <a:extLst>
                    <a:ext uri="{9D8B030D-6E8A-4147-A177-3AD203B41FA5}">
                      <a16:colId xmlns:a16="http://schemas.microsoft.com/office/drawing/2014/main" val="20001"/>
                    </a:ext>
                  </a:extLst>
                </a:gridCol>
                <a:gridCol w="1260250">
                  <a:extLst>
                    <a:ext uri="{9D8B030D-6E8A-4147-A177-3AD203B41FA5}">
                      <a16:colId xmlns:a16="http://schemas.microsoft.com/office/drawing/2014/main" val="20002"/>
                    </a:ext>
                  </a:extLst>
                </a:gridCol>
              </a:tblGrid>
              <a:tr h="292075">
                <a:tc>
                  <a:txBody>
                    <a:bodyPr/>
                    <a:lstStyle/>
                    <a:p>
                      <a:pPr marL="0" lvl="0" indent="0" algn="ctr" rtl="0">
                        <a:lnSpc>
                          <a:spcPct val="115000"/>
                        </a:lnSpc>
                        <a:spcBef>
                          <a:spcPts val="0"/>
                        </a:spcBef>
                        <a:spcAft>
                          <a:spcPts val="0"/>
                        </a:spcAft>
                        <a:buNone/>
                      </a:pPr>
                      <a:r>
                        <a:rPr lang="en" sz="1100" b="1"/>
                        <a:t>Variable</a:t>
                      </a:r>
                      <a:endParaRPr sz="1100"/>
                    </a:p>
                  </a:txBody>
                  <a:tcPr marL="63500" marR="63500" marT="63500" marB="63500">
                    <a:solidFill>
                      <a:srgbClr val="C9DAF8"/>
                    </a:solidFill>
                  </a:tcPr>
                </a:tc>
                <a:tc>
                  <a:txBody>
                    <a:bodyPr/>
                    <a:lstStyle/>
                    <a:p>
                      <a:pPr marL="0" lvl="0" indent="0" algn="ctr" rtl="0">
                        <a:lnSpc>
                          <a:spcPct val="115000"/>
                        </a:lnSpc>
                        <a:spcBef>
                          <a:spcPts val="0"/>
                        </a:spcBef>
                        <a:spcAft>
                          <a:spcPts val="0"/>
                        </a:spcAft>
                        <a:buNone/>
                      </a:pPr>
                      <a:r>
                        <a:rPr lang="en" sz="1100" b="1"/>
                        <a:t>Coefficient</a:t>
                      </a:r>
                      <a:endParaRPr sz="1100"/>
                    </a:p>
                  </a:txBody>
                  <a:tcPr marL="63500" marR="63500" marT="63500" marB="63500">
                    <a:solidFill>
                      <a:srgbClr val="C9DAF8"/>
                    </a:solidFill>
                  </a:tcPr>
                </a:tc>
                <a:tc>
                  <a:txBody>
                    <a:bodyPr/>
                    <a:lstStyle/>
                    <a:p>
                      <a:pPr marL="0" lvl="0" indent="0" algn="ctr" rtl="0">
                        <a:lnSpc>
                          <a:spcPct val="115000"/>
                        </a:lnSpc>
                        <a:spcBef>
                          <a:spcPts val="0"/>
                        </a:spcBef>
                        <a:spcAft>
                          <a:spcPts val="0"/>
                        </a:spcAft>
                        <a:buNone/>
                      </a:pPr>
                      <a:r>
                        <a:rPr lang="en" sz="1100" b="1"/>
                        <a:t>Standard Error</a:t>
                      </a:r>
                      <a:endParaRPr sz="1100"/>
                    </a:p>
                  </a:txBody>
                  <a:tcPr marL="63500" marR="63500" marT="63500" marB="63500">
                    <a:solidFill>
                      <a:srgbClr val="C9DAF8"/>
                    </a:solidFill>
                  </a:tcPr>
                </a:tc>
                <a:extLst>
                  <a:ext uri="{0D108BD9-81ED-4DB2-BD59-A6C34878D82A}">
                    <a16:rowId xmlns:a16="http://schemas.microsoft.com/office/drawing/2014/main" val="10000"/>
                  </a:ext>
                </a:extLst>
              </a:tr>
              <a:tr h="245675">
                <a:tc>
                  <a:txBody>
                    <a:bodyPr/>
                    <a:lstStyle/>
                    <a:p>
                      <a:pPr marL="0" lvl="0" indent="0" algn="l" rtl="0">
                        <a:lnSpc>
                          <a:spcPct val="115000"/>
                        </a:lnSpc>
                        <a:spcBef>
                          <a:spcPts val="0"/>
                        </a:spcBef>
                        <a:spcAft>
                          <a:spcPts val="0"/>
                        </a:spcAft>
                        <a:buNone/>
                      </a:pPr>
                      <a:r>
                        <a:rPr lang="en" sz="1100" b="1"/>
                        <a:t>Intercept (A)</a:t>
                      </a:r>
                      <a:endParaRPr sz="1100"/>
                    </a:p>
                  </a:txBody>
                  <a:tcPr marL="63500" marR="63500" marT="63500" marB="63500"/>
                </a:tc>
                <a:tc>
                  <a:txBody>
                    <a:bodyPr/>
                    <a:lstStyle/>
                    <a:p>
                      <a:pPr marL="0" lvl="0" indent="0" algn="ctr" rtl="0">
                        <a:lnSpc>
                          <a:spcPct val="115000"/>
                        </a:lnSpc>
                        <a:spcBef>
                          <a:spcPts val="0"/>
                        </a:spcBef>
                        <a:spcAft>
                          <a:spcPts val="0"/>
                        </a:spcAft>
                        <a:buNone/>
                      </a:pPr>
                      <a:r>
                        <a:rPr lang="en" sz="1100"/>
                        <a:t>0.6229</a:t>
                      </a:r>
                      <a:endParaRPr sz="1100"/>
                    </a:p>
                  </a:txBody>
                  <a:tcPr marL="63500" marR="63500" marT="63500" marB="63500"/>
                </a:tc>
                <a:tc>
                  <a:txBody>
                    <a:bodyPr/>
                    <a:lstStyle/>
                    <a:p>
                      <a:pPr marL="0" lvl="0" indent="0" algn="ctr" rtl="0">
                        <a:lnSpc>
                          <a:spcPct val="115000"/>
                        </a:lnSpc>
                        <a:spcBef>
                          <a:spcPts val="0"/>
                        </a:spcBef>
                        <a:spcAft>
                          <a:spcPts val="0"/>
                        </a:spcAft>
                        <a:buNone/>
                      </a:pPr>
                      <a:r>
                        <a:rPr lang="en" sz="1100"/>
                        <a:t>0.0930</a:t>
                      </a:r>
                      <a:endParaRPr sz="1100"/>
                    </a:p>
                  </a:txBody>
                  <a:tcPr marL="63500" marR="63500" marT="63500" marB="63500"/>
                </a:tc>
                <a:extLst>
                  <a:ext uri="{0D108BD9-81ED-4DB2-BD59-A6C34878D82A}">
                    <a16:rowId xmlns:a16="http://schemas.microsoft.com/office/drawing/2014/main" val="10001"/>
                  </a:ext>
                </a:extLst>
              </a:tr>
              <a:tr h="292075">
                <a:tc>
                  <a:txBody>
                    <a:bodyPr/>
                    <a:lstStyle/>
                    <a:p>
                      <a:pPr marL="0" lvl="0" indent="0" algn="l" rtl="0">
                        <a:lnSpc>
                          <a:spcPct val="115000"/>
                        </a:lnSpc>
                        <a:spcBef>
                          <a:spcPts val="0"/>
                        </a:spcBef>
                        <a:spcAft>
                          <a:spcPts val="0"/>
                        </a:spcAft>
                        <a:buNone/>
                      </a:pPr>
                      <a:r>
                        <a:rPr lang="en" sz="1100" b="1"/>
                        <a:t>Is Weekday (1 = Yes)</a:t>
                      </a:r>
                      <a:endParaRPr sz="1100"/>
                    </a:p>
                  </a:txBody>
                  <a:tcPr marL="63500" marR="63500" marT="63500" marB="63500"/>
                </a:tc>
                <a:tc>
                  <a:txBody>
                    <a:bodyPr/>
                    <a:lstStyle/>
                    <a:p>
                      <a:pPr marL="0" lvl="0" indent="0" algn="ctr" rtl="0">
                        <a:lnSpc>
                          <a:spcPct val="115000"/>
                        </a:lnSpc>
                        <a:spcBef>
                          <a:spcPts val="0"/>
                        </a:spcBef>
                        <a:spcAft>
                          <a:spcPts val="0"/>
                        </a:spcAft>
                        <a:buNone/>
                      </a:pPr>
                      <a:r>
                        <a:rPr lang="en" sz="1100"/>
                        <a:t>0.9184</a:t>
                      </a:r>
                      <a:endParaRPr sz="1100"/>
                    </a:p>
                  </a:txBody>
                  <a:tcPr marL="63500" marR="63500" marT="63500" marB="63500"/>
                </a:tc>
                <a:tc>
                  <a:txBody>
                    <a:bodyPr/>
                    <a:lstStyle/>
                    <a:p>
                      <a:pPr marL="0" lvl="0" indent="0" algn="ctr" rtl="0">
                        <a:lnSpc>
                          <a:spcPct val="115000"/>
                        </a:lnSpc>
                        <a:spcBef>
                          <a:spcPts val="0"/>
                        </a:spcBef>
                        <a:spcAft>
                          <a:spcPts val="0"/>
                        </a:spcAft>
                        <a:buNone/>
                      </a:pPr>
                      <a:r>
                        <a:rPr lang="en" sz="1100"/>
                        <a:t>0.0584</a:t>
                      </a:r>
                      <a:endParaRPr sz="1100"/>
                    </a:p>
                  </a:txBody>
                  <a:tcPr marL="63500" marR="63500" marT="63500" marB="63500"/>
                </a:tc>
                <a:extLst>
                  <a:ext uri="{0D108BD9-81ED-4DB2-BD59-A6C34878D82A}">
                    <a16:rowId xmlns:a16="http://schemas.microsoft.com/office/drawing/2014/main" val="10002"/>
                  </a:ext>
                </a:extLst>
              </a:tr>
              <a:tr h="292075">
                <a:tc>
                  <a:txBody>
                    <a:bodyPr/>
                    <a:lstStyle/>
                    <a:p>
                      <a:pPr marL="0" lvl="0" indent="0" algn="l" rtl="0">
                        <a:lnSpc>
                          <a:spcPct val="115000"/>
                        </a:lnSpc>
                        <a:spcBef>
                          <a:spcPts val="0"/>
                        </a:spcBef>
                        <a:spcAft>
                          <a:spcPts val="0"/>
                        </a:spcAft>
                        <a:buNone/>
                      </a:pPr>
                      <a:r>
                        <a:rPr lang="en" sz="1100" b="1"/>
                        <a:t>Avg Duration (Minutes)</a:t>
                      </a:r>
                      <a:endParaRPr sz="1100"/>
                    </a:p>
                  </a:txBody>
                  <a:tcPr marL="63500" marR="63500" marT="63500" marB="63500"/>
                </a:tc>
                <a:tc>
                  <a:txBody>
                    <a:bodyPr/>
                    <a:lstStyle/>
                    <a:p>
                      <a:pPr marL="0" lvl="0" indent="0" algn="ctr" rtl="0">
                        <a:lnSpc>
                          <a:spcPct val="115000"/>
                        </a:lnSpc>
                        <a:spcBef>
                          <a:spcPts val="0"/>
                        </a:spcBef>
                        <a:spcAft>
                          <a:spcPts val="0"/>
                        </a:spcAft>
                        <a:buNone/>
                      </a:pPr>
                      <a:r>
                        <a:rPr lang="en" sz="1100"/>
                        <a:t>-0.0150</a:t>
                      </a:r>
                      <a:endParaRPr sz="1100"/>
                    </a:p>
                  </a:txBody>
                  <a:tcPr marL="63500" marR="63500" marT="63500" marB="63500"/>
                </a:tc>
                <a:tc>
                  <a:txBody>
                    <a:bodyPr/>
                    <a:lstStyle/>
                    <a:p>
                      <a:pPr marL="0" lvl="0" indent="0" algn="ctr" rtl="0">
                        <a:lnSpc>
                          <a:spcPct val="115000"/>
                        </a:lnSpc>
                        <a:spcBef>
                          <a:spcPts val="0"/>
                        </a:spcBef>
                        <a:spcAft>
                          <a:spcPts val="0"/>
                        </a:spcAft>
                        <a:buNone/>
                      </a:pPr>
                      <a:r>
                        <a:rPr lang="en" sz="1100"/>
                        <a:t>0.0076</a:t>
                      </a:r>
                      <a:endParaRPr sz="1100"/>
                    </a:p>
                  </a:txBody>
                  <a:tcPr marL="63500" marR="63500" marT="63500" marB="63500"/>
                </a:tc>
                <a:extLst>
                  <a:ext uri="{0D108BD9-81ED-4DB2-BD59-A6C34878D82A}">
                    <a16:rowId xmlns:a16="http://schemas.microsoft.com/office/drawing/2014/main" val="10003"/>
                  </a:ext>
                </a:extLst>
              </a:tr>
              <a:tr h="245675">
                <a:tc>
                  <a:txBody>
                    <a:bodyPr/>
                    <a:lstStyle/>
                    <a:p>
                      <a:pPr marL="0" lvl="0" indent="0" algn="l" rtl="0">
                        <a:lnSpc>
                          <a:spcPct val="115000"/>
                        </a:lnSpc>
                        <a:spcBef>
                          <a:spcPts val="0"/>
                        </a:spcBef>
                        <a:spcAft>
                          <a:spcPts val="0"/>
                        </a:spcAft>
                        <a:buNone/>
                      </a:pPr>
                      <a:r>
                        <a:rPr lang="en" sz="1100" b="1"/>
                        <a:t>Docks Number</a:t>
                      </a:r>
                      <a:endParaRPr sz="1100"/>
                    </a:p>
                  </a:txBody>
                  <a:tcPr marL="63500" marR="63500" marT="63500" marB="63500"/>
                </a:tc>
                <a:tc>
                  <a:txBody>
                    <a:bodyPr/>
                    <a:lstStyle/>
                    <a:p>
                      <a:pPr marL="0" lvl="0" indent="0" algn="ctr" rtl="0">
                        <a:lnSpc>
                          <a:spcPct val="115000"/>
                        </a:lnSpc>
                        <a:spcBef>
                          <a:spcPts val="0"/>
                        </a:spcBef>
                        <a:spcAft>
                          <a:spcPts val="0"/>
                        </a:spcAft>
                        <a:buNone/>
                      </a:pPr>
                      <a:r>
                        <a:rPr lang="en" sz="1100"/>
                        <a:t>-0.000059</a:t>
                      </a:r>
                      <a:endParaRPr sz="1100"/>
                    </a:p>
                  </a:txBody>
                  <a:tcPr marL="63500" marR="63500" marT="63500" marB="63500"/>
                </a:tc>
                <a:tc>
                  <a:txBody>
                    <a:bodyPr/>
                    <a:lstStyle/>
                    <a:p>
                      <a:pPr marL="0" lvl="0" indent="0" algn="ctr" rtl="0">
                        <a:lnSpc>
                          <a:spcPct val="115000"/>
                        </a:lnSpc>
                        <a:spcBef>
                          <a:spcPts val="0"/>
                        </a:spcBef>
                        <a:spcAft>
                          <a:spcPts val="0"/>
                        </a:spcAft>
                        <a:buNone/>
                      </a:pPr>
                      <a:r>
                        <a:rPr lang="en" sz="1100"/>
                        <a:t>0.00022</a:t>
                      </a:r>
                      <a:endParaRPr sz="1100"/>
                    </a:p>
                  </a:txBody>
                  <a:tcPr marL="63500" marR="63500" marT="63500" marB="63500"/>
                </a:tc>
                <a:extLst>
                  <a:ext uri="{0D108BD9-81ED-4DB2-BD59-A6C34878D82A}">
                    <a16:rowId xmlns:a16="http://schemas.microsoft.com/office/drawing/2014/main" val="10004"/>
                  </a:ext>
                </a:extLst>
              </a:tr>
              <a:tr h="393075">
                <a:tc>
                  <a:txBody>
                    <a:bodyPr/>
                    <a:lstStyle/>
                    <a:p>
                      <a:pPr marL="0" lvl="0" indent="0" algn="l" rtl="0">
                        <a:lnSpc>
                          <a:spcPct val="115000"/>
                        </a:lnSpc>
                        <a:spcBef>
                          <a:spcPts val="0"/>
                        </a:spcBef>
                        <a:spcAft>
                          <a:spcPts val="0"/>
                        </a:spcAft>
                        <a:buNone/>
                      </a:pPr>
                      <a:r>
                        <a:rPr lang="en" sz="1100" b="1"/>
                        <a:t>Student Membership</a:t>
                      </a:r>
                      <a:endParaRPr sz="1100" b="1"/>
                    </a:p>
                    <a:p>
                      <a:pPr marL="0" lvl="0" indent="0" algn="l" rtl="0">
                        <a:lnSpc>
                          <a:spcPct val="115000"/>
                        </a:lnSpc>
                        <a:spcBef>
                          <a:spcPts val="0"/>
                        </a:spcBef>
                        <a:spcAft>
                          <a:spcPts val="0"/>
                        </a:spcAft>
                        <a:buNone/>
                      </a:pPr>
                      <a:r>
                        <a:rPr lang="en" sz="1100" b="1"/>
                        <a:t>(1=Yes)</a:t>
                      </a:r>
                      <a:endParaRPr sz="1100" b="1"/>
                    </a:p>
                  </a:txBody>
                  <a:tcPr marL="63500" marR="63500" marT="63500" marB="63500"/>
                </a:tc>
                <a:tc>
                  <a:txBody>
                    <a:bodyPr/>
                    <a:lstStyle/>
                    <a:p>
                      <a:pPr marL="0" lvl="0" indent="0" algn="ctr" rtl="0">
                        <a:lnSpc>
                          <a:spcPct val="115000"/>
                        </a:lnSpc>
                        <a:spcBef>
                          <a:spcPts val="0"/>
                        </a:spcBef>
                        <a:spcAft>
                          <a:spcPts val="0"/>
                        </a:spcAft>
                        <a:buNone/>
                      </a:pPr>
                      <a:r>
                        <a:rPr lang="en" sz="1100"/>
                        <a:t>0.3621</a:t>
                      </a:r>
                      <a:endParaRPr sz="1100"/>
                    </a:p>
                  </a:txBody>
                  <a:tcPr marL="63500" marR="63500" marT="63500" marB="63500"/>
                </a:tc>
                <a:tc>
                  <a:txBody>
                    <a:bodyPr/>
                    <a:lstStyle/>
                    <a:p>
                      <a:pPr marL="0" lvl="0" indent="0" algn="ctr" rtl="0">
                        <a:lnSpc>
                          <a:spcPct val="115000"/>
                        </a:lnSpc>
                        <a:spcBef>
                          <a:spcPts val="0"/>
                        </a:spcBef>
                        <a:spcAft>
                          <a:spcPts val="0"/>
                        </a:spcAft>
                        <a:buNone/>
                      </a:pPr>
                      <a:r>
                        <a:rPr lang="en" sz="1100"/>
                        <a:t>0.0624</a:t>
                      </a:r>
                      <a:endParaRPr sz="1100"/>
                    </a:p>
                  </a:txBody>
                  <a:tcPr marL="63500" marR="63500" marT="63500" marB="63500"/>
                </a:tc>
                <a:extLst>
                  <a:ext uri="{0D108BD9-81ED-4DB2-BD59-A6C34878D82A}">
                    <a16:rowId xmlns:a16="http://schemas.microsoft.com/office/drawing/2014/main" val="10005"/>
                  </a:ext>
                </a:extLst>
              </a:tr>
              <a:tr h="292075">
                <a:tc>
                  <a:txBody>
                    <a:bodyPr/>
                    <a:lstStyle/>
                    <a:p>
                      <a:pPr marL="0" lvl="0" indent="0" algn="l" rtl="0">
                        <a:lnSpc>
                          <a:spcPct val="115000"/>
                        </a:lnSpc>
                        <a:spcBef>
                          <a:spcPts val="0"/>
                        </a:spcBef>
                        <a:spcAft>
                          <a:spcPts val="0"/>
                        </a:spcAft>
                        <a:buNone/>
                      </a:pPr>
                      <a:r>
                        <a:rPr lang="en" sz="1100" b="1"/>
                        <a:t>Electric Bike (1 = Yes)</a:t>
                      </a:r>
                      <a:endParaRPr sz="1100" b="1"/>
                    </a:p>
                  </a:txBody>
                  <a:tcPr marL="63500" marR="63500" marT="63500" marB="63500"/>
                </a:tc>
                <a:tc>
                  <a:txBody>
                    <a:bodyPr/>
                    <a:lstStyle/>
                    <a:p>
                      <a:pPr marL="0" lvl="0" indent="0" algn="ctr" rtl="0">
                        <a:lnSpc>
                          <a:spcPct val="115000"/>
                        </a:lnSpc>
                        <a:spcBef>
                          <a:spcPts val="0"/>
                        </a:spcBef>
                        <a:spcAft>
                          <a:spcPts val="0"/>
                        </a:spcAft>
                        <a:buNone/>
                      </a:pPr>
                      <a:r>
                        <a:rPr lang="en" sz="1100"/>
                        <a:t>0.8528</a:t>
                      </a:r>
                      <a:endParaRPr sz="1100"/>
                    </a:p>
                  </a:txBody>
                  <a:tcPr marL="63500" marR="63500" marT="63500" marB="63500"/>
                </a:tc>
                <a:tc>
                  <a:txBody>
                    <a:bodyPr/>
                    <a:lstStyle/>
                    <a:p>
                      <a:pPr marL="0" lvl="0" indent="0" algn="ctr" rtl="0">
                        <a:lnSpc>
                          <a:spcPct val="115000"/>
                        </a:lnSpc>
                        <a:spcBef>
                          <a:spcPts val="0"/>
                        </a:spcBef>
                        <a:spcAft>
                          <a:spcPts val="0"/>
                        </a:spcAft>
                        <a:buNone/>
                      </a:pPr>
                      <a:r>
                        <a:rPr lang="en" sz="1100"/>
                        <a:t>0.1566</a:t>
                      </a:r>
                      <a:endParaRPr sz="1100"/>
                    </a:p>
                  </a:txBody>
                  <a:tcPr marL="63500" marR="63500" marT="63500" marB="63500"/>
                </a:tc>
                <a:extLst>
                  <a:ext uri="{0D108BD9-81ED-4DB2-BD59-A6C34878D82A}">
                    <a16:rowId xmlns:a16="http://schemas.microsoft.com/office/drawing/2014/main" val="10006"/>
                  </a:ext>
                </a:extLst>
              </a:tr>
              <a:tr h="292075">
                <a:tc>
                  <a:txBody>
                    <a:bodyPr/>
                    <a:lstStyle/>
                    <a:p>
                      <a:pPr marL="0" lvl="0" indent="0" algn="l" rtl="0">
                        <a:lnSpc>
                          <a:spcPct val="115000"/>
                        </a:lnSpc>
                        <a:spcBef>
                          <a:spcPts val="0"/>
                        </a:spcBef>
                        <a:spcAft>
                          <a:spcPts val="0"/>
                        </a:spcAft>
                        <a:buNone/>
                      </a:pPr>
                      <a:r>
                        <a:rPr lang="en" sz="1100" b="1"/>
                        <a:t>R² (Goodness of Fit)</a:t>
                      </a:r>
                      <a:endParaRPr sz="1100" b="1"/>
                    </a:p>
                  </a:txBody>
                  <a:tcPr marL="63500" marR="63500" marT="63500" marB="63500"/>
                </a:tc>
                <a:tc>
                  <a:txBody>
                    <a:bodyPr/>
                    <a:lstStyle/>
                    <a:p>
                      <a:pPr marL="0" lvl="0" indent="0" algn="ctr" rtl="0">
                        <a:lnSpc>
                          <a:spcPct val="115000"/>
                        </a:lnSpc>
                        <a:spcBef>
                          <a:spcPts val="0"/>
                        </a:spcBef>
                        <a:spcAft>
                          <a:spcPts val="0"/>
                        </a:spcAft>
                        <a:buNone/>
                      </a:pPr>
                      <a:r>
                        <a:rPr lang="en" sz="1100"/>
                        <a:t>0.077</a:t>
                      </a:r>
                      <a:endParaRPr sz="1100"/>
                    </a:p>
                  </a:txBody>
                  <a:tcPr marL="63500" marR="63500" marT="63500" marB="63500"/>
                </a:tc>
                <a:tc>
                  <a:txBody>
                    <a:bodyPr/>
                    <a:lstStyle/>
                    <a:p>
                      <a:pPr marL="0" lvl="0" indent="0" algn="ctr" rtl="0">
                        <a:spcBef>
                          <a:spcPts val="0"/>
                        </a:spcBef>
                        <a:spcAft>
                          <a:spcPts val="0"/>
                        </a:spcAft>
                        <a:buNone/>
                      </a:pPr>
                      <a:endParaRPr sz="1100"/>
                    </a:p>
                  </a:txBody>
                  <a:tcPr marL="63500" marR="63500" marT="63500" marB="63500"/>
                </a:tc>
                <a:extLst>
                  <a:ext uri="{0D108BD9-81ED-4DB2-BD59-A6C34878D82A}">
                    <a16:rowId xmlns:a16="http://schemas.microsoft.com/office/drawing/2014/main" val="10007"/>
                  </a:ext>
                </a:extLst>
              </a:tr>
              <a:tr h="245675">
                <a:tc>
                  <a:txBody>
                    <a:bodyPr/>
                    <a:lstStyle/>
                    <a:p>
                      <a:pPr marL="0" lvl="0" indent="0" algn="l" rtl="0">
                        <a:lnSpc>
                          <a:spcPct val="115000"/>
                        </a:lnSpc>
                        <a:spcBef>
                          <a:spcPts val="0"/>
                        </a:spcBef>
                        <a:spcAft>
                          <a:spcPts val="0"/>
                        </a:spcAft>
                        <a:buNone/>
                      </a:pPr>
                      <a:r>
                        <a:rPr lang="en" sz="1100" b="1"/>
                        <a:t>F-Statistic</a:t>
                      </a:r>
                      <a:endParaRPr sz="1100" b="1"/>
                    </a:p>
                  </a:txBody>
                  <a:tcPr marL="63500" marR="63500" marT="63500" marB="63500"/>
                </a:tc>
                <a:tc>
                  <a:txBody>
                    <a:bodyPr/>
                    <a:lstStyle/>
                    <a:p>
                      <a:pPr marL="0" lvl="0" indent="0" algn="ctr" rtl="0">
                        <a:lnSpc>
                          <a:spcPct val="115000"/>
                        </a:lnSpc>
                        <a:spcBef>
                          <a:spcPts val="0"/>
                        </a:spcBef>
                        <a:spcAft>
                          <a:spcPts val="0"/>
                        </a:spcAft>
                        <a:buNone/>
                      </a:pPr>
                      <a:r>
                        <a:rPr lang="en" sz="1100"/>
                        <a:t>80.53</a:t>
                      </a:r>
                      <a:endParaRPr sz="1100"/>
                    </a:p>
                  </a:txBody>
                  <a:tcPr marL="63500" marR="63500" marT="63500" marB="63500"/>
                </a:tc>
                <a:tc>
                  <a:txBody>
                    <a:bodyPr/>
                    <a:lstStyle/>
                    <a:p>
                      <a:pPr marL="0" lvl="0" indent="0" algn="ctr" rtl="0">
                        <a:spcBef>
                          <a:spcPts val="0"/>
                        </a:spcBef>
                        <a:spcAft>
                          <a:spcPts val="0"/>
                        </a:spcAft>
                        <a:buNone/>
                      </a:pPr>
                      <a:endParaRPr sz="1100"/>
                    </a:p>
                  </a:txBody>
                  <a:tcPr marL="63500" marR="63500" marT="63500" marB="63500"/>
                </a:tc>
                <a:extLst>
                  <a:ext uri="{0D108BD9-81ED-4DB2-BD59-A6C34878D82A}">
                    <a16:rowId xmlns:a16="http://schemas.microsoft.com/office/drawing/2014/main" val="10008"/>
                  </a:ext>
                </a:extLst>
              </a:tr>
            </a:tbl>
          </a:graphicData>
        </a:graphic>
      </p:graphicFrame>
      <p:sp>
        <p:nvSpPr>
          <p:cNvPr id="109" name="Google Shape;109;p19"/>
          <p:cNvSpPr txBox="1"/>
          <p:nvPr/>
        </p:nvSpPr>
        <p:spPr>
          <a:xfrm>
            <a:off x="736700" y="692825"/>
            <a:ext cx="7365900" cy="39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Y=0.6229+0.9184X1+(-0.015)X2+(-0.000059)X3+0.3621X4+0.8528X5</a:t>
            </a:r>
            <a:endParaRPr sz="1800">
              <a:solidFill>
                <a:schemeClr val="dk2"/>
              </a:solidFill>
            </a:endParaRPr>
          </a:p>
        </p:txBody>
      </p:sp>
      <p:graphicFrame>
        <p:nvGraphicFramePr>
          <p:cNvPr id="110" name="Google Shape;110;p19"/>
          <p:cNvGraphicFramePr/>
          <p:nvPr/>
        </p:nvGraphicFramePr>
        <p:xfrm>
          <a:off x="1474450" y="4304725"/>
          <a:ext cx="6683500" cy="718350"/>
        </p:xfrm>
        <a:graphic>
          <a:graphicData uri="http://schemas.openxmlformats.org/drawingml/2006/table">
            <a:tbl>
              <a:tblPr>
                <a:noFill/>
                <a:tableStyleId>{36F2033D-D787-45D3-A69D-1552C56D71A4}</a:tableStyleId>
              </a:tblPr>
              <a:tblGrid>
                <a:gridCol w="1670875">
                  <a:extLst>
                    <a:ext uri="{9D8B030D-6E8A-4147-A177-3AD203B41FA5}">
                      <a16:colId xmlns:a16="http://schemas.microsoft.com/office/drawing/2014/main" val="20000"/>
                    </a:ext>
                  </a:extLst>
                </a:gridCol>
                <a:gridCol w="1468625">
                  <a:extLst>
                    <a:ext uri="{9D8B030D-6E8A-4147-A177-3AD203B41FA5}">
                      <a16:colId xmlns:a16="http://schemas.microsoft.com/office/drawing/2014/main" val="20001"/>
                    </a:ext>
                  </a:extLst>
                </a:gridCol>
                <a:gridCol w="1613075">
                  <a:extLst>
                    <a:ext uri="{9D8B030D-6E8A-4147-A177-3AD203B41FA5}">
                      <a16:colId xmlns:a16="http://schemas.microsoft.com/office/drawing/2014/main" val="20002"/>
                    </a:ext>
                  </a:extLst>
                </a:gridCol>
                <a:gridCol w="1930925">
                  <a:extLst>
                    <a:ext uri="{9D8B030D-6E8A-4147-A177-3AD203B41FA5}">
                      <a16:colId xmlns:a16="http://schemas.microsoft.com/office/drawing/2014/main" val="20003"/>
                    </a:ext>
                  </a:extLst>
                </a:gridCol>
              </a:tblGrid>
              <a:tr h="297200">
                <a:tc>
                  <a:txBody>
                    <a:bodyPr/>
                    <a:lstStyle/>
                    <a:p>
                      <a:pPr marL="0" lvl="0" indent="0" algn="ctr" rtl="0">
                        <a:spcBef>
                          <a:spcPts val="0"/>
                        </a:spcBef>
                        <a:spcAft>
                          <a:spcPts val="0"/>
                        </a:spcAft>
                        <a:buNone/>
                      </a:pPr>
                      <a:r>
                        <a:rPr lang="en" sz="1000">
                          <a:solidFill>
                            <a:schemeClr val="dk1"/>
                          </a:solidFill>
                        </a:rPr>
                        <a:t>Start station id</a:t>
                      </a:r>
                      <a:endParaRPr/>
                    </a:p>
                  </a:txBody>
                  <a:tcPr marL="91425" marR="91425" marT="91425" marB="91425"/>
                </a:tc>
                <a:tc>
                  <a:txBody>
                    <a:bodyPr/>
                    <a:lstStyle/>
                    <a:p>
                      <a:pPr marL="0" lvl="0" indent="0" algn="ctr" rtl="0">
                        <a:spcBef>
                          <a:spcPts val="0"/>
                        </a:spcBef>
                        <a:spcAft>
                          <a:spcPts val="0"/>
                        </a:spcAft>
                        <a:buNone/>
                      </a:pPr>
                      <a:r>
                        <a:rPr lang="en" sz="1000">
                          <a:solidFill>
                            <a:schemeClr val="dk1"/>
                          </a:solidFill>
                        </a:rPr>
                        <a:t>Date</a:t>
                      </a:r>
                      <a:endParaRPr sz="1000">
                        <a:solidFill>
                          <a:schemeClr val="dk1"/>
                        </a:solidFill>
                      </a:endParaRPr>
                    </a:p>
                  </a:txBody>
                  <a:tcPr marL="91425" marR="91425" marT="91425" marB="91425"/>
                </a:tc>
                <a:tc>
                  <a:txBody>
                    <a:bodyPr/>
                    <a:lstStyle/>
                    <a:p>
                      <a:pPr marL="0" lvl="0" indent="0" algn="ctr" rtl="0">
                        <a:spcBef>
                          <a:spcPts val="0"/>
                        </a:spcBef>
                        <a:spcAft>
                          <a:spcPts val="0"/>
                        </a:spcAft>
                        <a:buNone/>
                      </a:pPr>
                      <a:r>
                        <a:rPr lang="en" sz="1000">
                          <a:solidFill>
                            <a:schemeClr val="dk1"/>
                          </a:solidFill>
                        </a:rPr>
                        <a:t>Day of week</a:t>
                      </a:r>
                      <a:endParaRPr/>
                    </a:p>
                  </a:txBody>
                  <a:tcPr marL="91425" marR="91425" marT="91425" marB="91425"/>
                </a:tc>
                <a:tc>
                  <a:txBody>
                    <a:bodyPr/>
                    <a:lstStyle/>
                    <a:p>
                      <a:pPr marL="0" lvl="0" indent="0" algn="ctr" rtl="0">
                        <a:spcBef>
                          <a:spcPts val="0"/>
                        </a:spcBef>
                        <a:spcAft>
                          <a:spcPts val="0"/>
                        </a:spcAft>
                        <a:buNone/>
                      </a:pPr>
                      <a:r>
                        <a:rPr lang="en" sz="1000">
                          <a:solidFill>
                            <a:schemeClr val="dk1"/>
                          </a:solidFill>
                        </a:rPr>
                        <a:t>Predicted total rentals</a:t>
                      </a:r>
                      <a:endParaRPr/>
                    </a:p>
                  </a:txBody>
                  <a:tcPr marL="91425" marR="91425" marT="91425" marB="91425"/>
                </a:tc>
                <a:extLst>
                  <a:ext uri="{0D108BD9-81ED-4DB2-BD59-A6C34878D82A}">
                    <a16:rowId xmlns:a16="http://schemas.microsoft.com/office/drawing/2014/main" val="10000"/>
                  </a:ext>
                </a:extLst>
              </a:tr>
              <a:tr h="383100">
                <a:tc>
                  <a:txBody>
                    <a:bodyPr/>
                    <a:lstStyle/>
                    <a:p>
                      <a:pPr marL="0" lvl="0" indent="0" algn="ctr" rtl="0">
                        <a:spcBef>
                          <a:spcPts val="0"/>
                        </a:spcBef>
                        <a:spcAft>
                          <a:spcPts val="0"/>
                        </a:spcAft>
                        <a:buNone/>
                      </a:pPr>
                      <a:r>
                        <a:rPr lang="en" sz="1000">
                          <a:solidFill>
                            <a:schemeClr val="dk1"/>
                          </a:solidFill>
                        </a:rPr>
                        <a:t>2498</a:t>
                      </a:r>
                      <a:endParaRPr/>
                    </a:p>
                  </a:txBody>
                  <a:tcPr marL="91425" marR="91425" marT="91425" marB="91425"/>
                </a:tc>
                <a:tc>
                  <a:txBody>
                    <a:bodyPr/>
                    <a:lstStyle/>
                    <a:p>
                      <a:pPr marL="0" lvl="0" indent="0" algn="ctr" rtl="0">
                        <a:spcBef>
                          <a:spcPts val="0"/>
                        </a:spcBef>
                        <a:spcAft>
                          <a:spcPts val="0"/>
                        </a:spcAft>
                        <a:buNone/>
                      </a:pPr>
                      <a:r>
                        <a:rPr lang="en" sz="1000">
                          <a:solidFill>
                            <a:schemeClr val="dk1"/>
                          </a:solidFill>
                        </a:rPr>
                        <a:t>1.4.2022</a:t>
                      </a:r>
                      <a:endParaRPr sz="1000">
                        <a:solidFill>
                          <a:schemeClr val="dk1"/>
                        </a:solidFill>
                      </a:endParaRPr>
                    </a:p>
                  </a:txBody>
                  <a:tcPr marL="91425" marR="91425" marT="91425" marB="91425"/>
                </a:tc>
                <a:tc>
                  <a:txBody>
                    <a:bodyPr/>
                    <a:lstStyle/>
                    <a:p>
                      <a:pPr marL="0" lvl="0" indent="0" algn="ctr" rtl="0">
                        <a:spcBef>
                          <a:spcPts val="0"/>
                        </a:spcBef>
                        <a:spcAft>
                          <a:spcPts val="0"/>
                        </a:spcAft>
                        <a:buNone/>
                      </a:pPr>
                      <a:r>
                        <a:rPr lang="en" sz="1000">
                          <a:solidFill>
                            <a:schemeClr val="dk1"/>
                          </a:solidFill>
                        </a:rPr>
                        <a:t>Friday</a:t>
                      </a:r>
                      <a:endParaRPr/>
                    </a:p>
                  </a:txBody>
                  <a:tcPr marL="91425" marR="91425" marT="91425" marB="91425"/>
                </a:tc>
                <a:tc>
                  <a:txBody>
                    <a:bodyPr/>
                    <a:lstStyle/>
                    <a:p>
                      <a:pPr marL="0" lvl="0" indent="0" algn="ctr" rtl="0">
                        <a:spcBef>
                          <a:spcPts val="0"/>
                        </a:spcBef>
                        <a:spcAft>
                          <a:spcPts val="0"/>
                        </a:spcAft>
                        <a:buNone/>
                      </a:pPr>
                      <a:r>
                        <a:rPr lang="en" sz="1000">
                          <a:solidFill>
                            <a:schemeClr val="dk1"/>
                          </a:solidFill>
                        </a:rPr>
                        <a:t>45.13380432</a:t>
                      </a:r>
                      <a:endParaRPr/>
                    </a:p>
                  </a:txBody>
                  <a:tcPr marL="91425" marR="91425" marT="91425" marB="91425"/>
                </a:tc>
                <a:extLst>
                  <a:ext uri="{0D108BD9-81ED-4DB2-BD59-A6C34878D82A}">
                    <a16:rowId xmlns:a16="http://schemas.microsoft.com/office/drawing/2014/main" val="10001"/>
                  </a:ext>
                </a:extLst>
              </a:tr>
            </a:tbl>
          </a:graphicData>
        </a:graphic>
      </p:graphicFrame>
      <p:sp>
        <p:nvSpPr>
          <p:cNvPr id="111" name="Google Shape;111;p19"/>
          <p:cNvSpPr txBox="1"/>
          <p:nvPr/>
        </p:nvSpPr>
        <p:spPr>
          <a:xfrm>
            <a:off x="121525" y="3634225"/>
            <a:ext cx="1710600" cy="670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Prediction Question</a:t>
            </a:r>
            <a:endParaRPr sz="1800">
              <a:solidFill>
                <a:schemeClr val="dk2"/>
              </a:solidFill>
            </a:endParaRPr>
          </a:p>
        </p:txBody>
      </p:sp>
      <p:cxnSp>
        <p:nvCxnSpPr>
          <p:cNvPr id="112" name="Google Shape;112;p19"/>
          <p:cNvCxnSpPr/>
          <p:nvPr/>
        </p:nvCxnSpPr>
        <p:spPr>
          <a:xfrm>
            <a:off x="1284550" y="4351550"/>
            <a:ext cx="189900" cy="4059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807</Words>
  <Application>Microsoft Office PowerPoint</Application>
  <PresentationFormat>On-screen Show (16:9)</PresentationFormat>
  <Paragraphs>121</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Simple Light</vt:lpstr>
      <vt:lpstr> Final Project:</vt:lpstr>
      <vt:lpstr>Rentals tend to be higher on weekdays compared to weekends</vt:lpstr>
      <vt:lpstr>Most of the users prefer electric bike</vt:lpstr>
      <vt:lpstr>PowerPoint Presentation</vt:lpstr>
      <vt:lpstr>PowerPoint Presentation</vt:lpstr>
      <vt:lpstr>PowerPoint Presentation</vt:lpstr>
      <vt:lpstr>Regression results: Variables affecting bike rentals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Baraa Zoabi</cp:lastModifiedBy>
  <cp:revision>1</cp:revision>
  <dcterms:modified xsi:type="dcterms:W3CDTF">2026-05-18T09:51:20Z</dcterms:modified>
</cp:coreProperties>
</file>